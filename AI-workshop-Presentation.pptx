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8" r:id="rId12"/>
    <p:sldId id="267" r:id="rId13"/>
    <p:sldId id="269" r:id="rId14"/>
    <p:sldId id="270" r:id="rId15"/>
    <p:sldId id="271" r:id="rId16"/>
    <p:sldId id="262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840D0-6DD5-383F-02AE-42FC75100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A4FB11-E117-DA87-12C8-597E5411ED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3E9BFB-0C8D-A6E3-99BE-5EF28175B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9A312-216A-8758-C043-4B65A28B13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2655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1991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GUIDE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96596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to AI</a:t>
            </a:r>
            <a:endParaRPr lang="en-US" sz="5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5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Your First AI Solution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932688" y="40690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core ideas behind artificial intelligence — then walk through the steps to design, build, and test a simple AI solution of your own.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41832" y="5138928"/>
            <a:ext cx="91440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52852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 ·  No prior coding experience required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46920" y="2148840"/>
            <a:ext cx="2057400" cy="2057400"/>
          </a:xfrm>
          <a:prstGeom prst="ellipse">
            <a:avLst/>
          </a:prstGeom>
          <a:solidFill>
            <a:srgbClr val="EEF3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2" y="2724912"/>
            <a:ext cx="9144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475720" y="2057400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464040" y="397764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·  Build Your First AI Solution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93A3AD-C3AF-1608-BC6A-17830AF3B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9937" y="4983480"/>
            <a:ext cx="1465783" cy="1465783"/>
          </a:xfrm>
          <a:prstGeom prst="ellipse">
            <a:avLst/>
          </a:prstGeom>
          <a:ln w="19050">
            <a:solidFill>
              <a:srgbClr val="2563EB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2DD86C5-7325-02C2-BD28-82E33A3A64B7}"/>
              </a:ext>
            </a:extLst>
          </p:cNvPr>
          <p:cNvSpPr txBox="1"/>
          <p:nvPr/>
        </p:nvSpPr>
        <p:spPr>
          <a:xfrm>
            <a:off x="10009937" y="6449263"/>
            <a:ext cx="1465783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/>
            <a:r>
              <a:rPr lang="en-US" dirty="0"/>
              <a:t>Buddika Hiripitiyage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ICEBREAKER  ·  INTERACTIVE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do you see AI in daily life?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moment, turn to a neighbor, and name as many examples as you can.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4846320" cy="1097280"/>
          </a:xfrm>
          <a:prstGeom prst="rect">
            <a:avLst/>
          </a:prstGeom>
          <a:solidFill>
            <a:srgbClr val="EEF3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310896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3227832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99923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aloud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wrong answers — anything counts.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737360" y="4343400"/>
            <a:ext cx="1371600" cy="1371600"/>
          </a:xfrm>
          <a:prstGeom prst="ellipse">
            <a:avLst/>
          </a:prstGeom>
          <a:solidFill>
            <a:srgbClr val="EEF3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408" y="472744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89320" y="187452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—</a:t>
            </a:r>
            <a:endParaRPr lang="en-US" sz="115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73166F3-89ED-3E03-06B6-C96D434357EC}"/>
              </a:ext>
            </a:extLst>
          </p:cNvPr>
          <p:cNvGrpSpPr/>
          <p:nvPr/>
        </p:nvGrpSpPr>
        <p:grpSpPr>
          <a:xfrm>
            <a:off x="5989320" y="2331720"/>
            <a:ext cx="2688336" cy="1627632"/>
            <a:chOff x="5989320" y="2331720"/>
            <a:chExt cx="2688336" cy="1627632"/>
          </a:xfrm>
        </p:grpSpPr>
        <p:sp>
          <p:nvSpPr>
            <p:cNvPr id="13" name="Shape 9"/>
            <p:cNvSpPr/>
            <p:nvPr/>
          </p:nvSpPr>
          <p:spPr>
            <a:xfrm>
              <a:off x="5989320" y="2331720"/>
              <a:ext cx="2688336" cy="162763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0"/>
            <p:cNvSpPr/>
            <p:nvPr/>
          </p:nvSpPr>
          <p:spPr>
            <a:xfrm>
              <a:off x="5989320" y="2331720"/>
              <a:ext cx="64008" cy="1627632"/>
            </a:xfrm>
            <a:prstGeom prst="rect">
              <a:avLst/>
            </a:prstGeom>
            <a:solidFill>
              <a:srgbClr val="2563E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1"/>
            <p:cNvSpPr/>
            <p:nvPr/>
          </p:nvSpPr>
          <p:spPr>
            <a:xfrm>
              <a:off x="6309360" y="2624328"/>
              <a:ext cx="566928" cy="566928"/>
            </a:xfrm>
            <a:prstGeom prst="ellipse">
              <a:avLst/>
            </a:prstGeom>
            <a:solidFill>
              <a:srgbClr val="EEF3FF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6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55664" y="2770632"/>
              <a:ext cx="274320" cy="274320"/>
            </a:xfrm>
            <a:prstGeom prst="rect">
              <a:avLst/>
            </a:prstGeom>
          </p:spPr>
        </p:pic>
        <p:sp>
          <p:nvSpPr>
            <p:cNvPr id="17" name="Text 12"/>
            <p:cNvSpPr/>
            <p:nvPr/>
          </p:nvSpPr>
          <p:spPr>
            <a:xfrm>
              <a:off x="6309360" y="3246120"/>
              <a:ext cx="2139696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A1A1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YouTube recommendations</a:t>
              </a:r>
              <a:endParaRPr lang="en-US" sz="1400" dirty="0"/>
            </a:p>
          </p:txBody>
        </p:sp>
        <p:sp>
          <p:nvSpPr>
            <p:cNvPr id="18" name="Text 13"/>
            <p:cNvSpPr/>
            <p:nvPr/>
          </p:nvSpPr>
          <p:spPr>
            <a:xfrm>
              <a:off x="6309360" y="3547872"/>
              <a:ext cx="2185416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Suggests the next video to watch.</a:t>
              </a:r>
              <a:endParaRPr lang="en-US" sz="115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1432068-EB5D-FD8D-EE35-D4F12D9DDAF2}"/>
              </a:ext>
            </a:extLst>
          </p:cNvPr>
          <p:cNvGrpSpPr/>
          <p:nvPr/>
        </p:nvGrpSpPr>
        <p:grpSpPr>
          <a:xfrm>
            <a:off x="8951976" y="2331720"/>
            <a:ext cx="2688336" cy="1627632"/>
            <a:chOff x="8951976" y="2331720"/>
            <a:chExt cx="2688336" cy="1627632"/>
          </a:xfrm>
        </p:grpSpPr>
        <p:sp>
          <p:nvSpPr>
            <p:cNvPr id="19" name="Shape 14"/>
            <p:cNvSpPr/>
            <p:nvPr/>
          </p:nvSpPr>
          <p:spPr>
            <a:xfrm>
              <a:off x="8951976" y="2331720"/>
              <a:ext cx="2688336" cy="162763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5"/>
            <p:cNvSpPr/>
            <p:nvPr/>
          </p:nvSpPr>
          <p:spPr>
            <a:xfrm>
              <a:off x="8951976" y="2331720"/>
              <a:ext cx="64008" cy="1627632"/>
            </a:xfrm>
            <a:prstGeom prst="rect">
              <a:avLst/>
            </a:prstGeom>
            <a:solidFill>
              <a:srgbClr val="2563E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6"/>
            <p:cNvSpPr/>
            <p:nvPr/>
          </p:nvSpPr>
          <p:spPr>
            <a:xfrm>
              <a:off x="9272016" y="2624328"/>
              <a:ext cx="566928" cy="566928"/>
            </a:xfrm>
            <a:prstGeom prst="ellipse">
              <a:avLst/>
            </a:prstGeom>
            <a:solidFill>
              <a:srgbClr val="EEF3FF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22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18320" y="2770632"/>
              <a:ext cx="274320" cy="274320"/>
            </a:xfrm>
            <a:prstGeom prst="rect">
              <a:avLst/>
            </a:prstGeom>
          </p:spPr>
        </p:pic>
        <p:sp>
          <p:nvSpPr>
            <p:cNvPr id="23" name="Text 17"/>
            <p:cNvSpPr/>
            <p:nvPr/>
          </p:nvSpPr>
          <p:spPr>
            <a:xfrm>
              <a:off x="9272016" y="3246120"/>
              <a:ext cx="2139696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A1A1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Google Maps</a:t>
              </a:r>
              <a:endParaRPr lang="en-US" sz="1400" dirty="0"/>
            </a:p>
          </p:txBody>
        </p:sp>
        <p:sp>
          <p:nvSpPr>
            <p:cNvPr id="24" name="Text 18"/>
            <p:cNvSpPr/>
            <p:nvPr/>
          </p:nvSpPr>
          <p:spPr>
            <a:xfrm>
              <a:off x="9272016" y="3547872"/>
              <a:ext cx="2185416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Predicts traffic and the fastest route.</a:t>
              </a:r>
              <a:endParaRPr lang="en-US" sz="1150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9A2C3A5-2996-4ABA-8239-3E411B4F5462}"/>
              </a:ext>
            </a:extLst>
          </p:cNvPr>
          <p:cNvGrpSpPr/>
          <p:nvPr/>
        </p:nvGrpSpPr>
        <p:grpSpPr>
          <a:xfrm>
            <a:off x="5989320" y="4160520"/>
            <a:ext cx="2688336" cy="1627632"/>
            <a:chOff x="5989320" y="4160520"/>
            <a:chExt cx="2688336" cy="1627632"/>
          </a:xfrm>
        </p:grpSpPr>
        <p:sp>
          <p:nvSpPr>
            <p:cNvPr id="25" name="Shape 19"/>
            <p:cNvSpPr/>
            <p:nvPr/>
          </p:nvSpPr>
          <p:spPr>
            <a:xfrm>
              <a:off x="5989320" y="4160520"/>
              <a:ext cx="2688336" cy="162763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0"/>
            <p:cNvSpPr/>
            <p:nvPr/>
          </p:nvSpPr>
          <p:spPr>
            <a:xfrm>
              <a:off x="5989320" y="4160520"/>
              <a:ext cx="64008" cy="1627632"/>
            </a:xfrm>
            <a:prstGeom prst="rect">
              <a:avLst/>
            </a:prstGeom>
            <a:solidFill>
              <a:srgbClr val="2563E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Shape 21"/>
            <p:cNvSpPr/>
            <p:nvPr/>
          </p:nvSpPr>
          <p:spPr>
            <a:xfrm>
              <a:off x="6309360" y="4453128"/>
              <a:ext cx="566928" cy="566928"/>
            </a:xfrm>
            <a:prstGeom prst="ellipse">
              <a:avLst/>
            </a:prstGeom>
            <a:solidFill>
              <a:srgbClr val="EEF3FF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28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55664" y="4599432"/>
              <a:ext cx="274320" cy="274320"/>
            </a:xfrm>
            <a:prstGeom prst="rect">
              <a:avLst/>
            </a:prstGeom>
          </p:spPr>
        </p:pic>
        <p:sp>
          <p:nvSpPr>
            <p:cNvPr id="29" name="Text 22"/>
            <p:cNvSpPr/>
            <p:nvPr/>
          </p:nvSpPr>
          <p:spPr>
            <a:xfrm>
              <a:off x="6309360" y="5074920"/>
              <a:ext cx="2139696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A1A1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ChatGPT</a:t>
              </a:r>
              <a:endParaRPr lang="en-US" sz="1400" dirty="0"/>
            </a:p>
          </p:txBody>
        </p:sp>
        <p:sp>
          <p:nvSpPr>
            <p:cNvPr id="30" name="Text 23"/>
            <p:cNvSpPr/>
            <p:nvPr/>
          </p:nvSpPr>
          <p:spPr>
            <a:xfrm>
              <a:off x="6309360" y="5376672"/>
              <a:ext cx="2185416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Answers questions and drafts text.</a:t>
              </a:r>
              <a:endParaRPr lang="en-US" sz="115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FE5933A-B784-CA60-963F-73A60F7231DD}"/>
              </a:ext>
            </a:extLst>
          </p:cNvPr>
          <p:cNvGrpSpPr/>
          <p:nvPr/>
        </p:nvGrpSpPr>
        <p:grpSpPr>
          <a:xfrm>
            <a:off x="8951976" y="4160520"/>
            <a:ext cx="2688336" cy="1627632"/>
            <a:chOff x="8951976" y="4160520"/>
            <a:chExt cx="2688336" cy="1627632"/>
          </a:xfrm>
        </p:grpSpPr>
        <p:sp>
          <p:nvSpPr>
            <p:cNvPr id="31" name="Shape 24"/>
            <p:cNvSpPr/>
            <p:nvPr/>
          </p:nvSpPr>
          <p:spPr>
            <a:xfrm>
              <a:off x="8951976" y="4160520"/>
              <a:ext cx="2688336" cy="162763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Shape 25"/>
            <p:cNvSpPr/>
            <p:nvPr/>
          </p:nvSpPr>
          <p:spPr>
            <a:xfrm>
              <a:off x="8951976" y="4160520"/>
              <a:ext cx="64008" cy="1627632"/>
            </a:xfrm>
            <a:prstGeom prst="rect">
              <a:avLst/>
            </a:prstGeom>
            <a:solidFill>
              <a:srgbClr val="2563E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26"/>
            <p:cNvSpPr/>
            <p:nvPr/>
          </p:nvSpPr>
          <p:spPr>
            <a:xfrm>
              <a:off x="9272016" y="4453128"/>
              <a:ext cx="566928" cy="566928"/>
            </a:xfrm>
            <a:prstGeom prst="ellipse">
              <a:avLst/>
            </a:prstGeom>
            <a:solidFill>
              <a:srgbClr val="EEF3FF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34" name="Image 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418320" y="4599432"/>
              <a:ext cx="274320" cy="274320"/>
            </a:xfrm>
            <a:prstGeom prst="rect">
              <a:avLst/>
            </a:prstGeom>
          </p:spPr>
        </p:pic>
        <p:sp>
          <p:nvSpPr>
            <p:cNvPr id="35" name="Text 27"/>
            <p:cNvSpPr/>
            <p:nvPr/>
          </p:nvSpPr>
          <p:spPr>
            <a:xfrm>
              <a:off x="9272016" y="5074920"/>
              <a:ext cx="2139696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A1A1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Face unlock</a:t>
              </a:r>
              <a:endParaRPr lang="en-US" sz="1400" dirty="0"/>
            </a:p>
          </p:txBody>
        </p:sp>
        <p:sp>
          <p:nvSpPr>
            <p:cNvPr id="36" name="Text 28"/>
            <p:cNvSpPr/>
            <p:nvPr/>
          </p:nvSpPr>
          <p:spPr>
            <a:xfrm>
              <a:off x="9272016" y="5376672"/>
              <a:ext cx="2185416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Recognizes your face to open the phone.</a:t>
              </a:r>
              <a:endParaRPr lang="en-US" sz="1150" dirty="0"/>
            </a:p>
          </p:txBody>
        </p:sp>
      </p:grpSp>
      <p:sp>
        <p:nvSpPr>
          <p:cNvPr id="37" name="Text 2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·  Build Your First AI Solution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2020824"/>
            <a:ext cx="530352" cy="530352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616" y="21488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194767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AI, really?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103120" y="2295144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definitions of AI, machine learning, and generative AI.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280720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371600" y="2862072"/>
            <a:ext cx="530352" cy="530352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616" y="299008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03120" y="27889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machines learn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2103120" y="313639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loop of data, training, and prediction behind every model.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364845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1371600" y="3703320"/>
            <a:ext cx="530352" cy="530352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" y="383133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363016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tools you'll use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2103120" y="39776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Beginner-friendly, no-code and low-code ways to work with AI today.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448970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Shape 16"/>
          <p:cNvSpPr/>
          <p:nvPr/>
        </p:nvSpPr>
        <p:spPr>
          <a:xfrm>
            <a:off x="1371600" y="4544568"/>
            <a:ext cx="530352" cy="530352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9616" y="467258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103120" y="447141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your first solution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2103120" y="481888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four-step path from idea to a working prototype you can test.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33095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Shape 20"/>
          <p:cNvSpPr/>
          <p:nvPr/>
        </p:nvSpPr>
        <p:spPr>
          <a:xfrm>
            <a:off x="1371600" y="5385816"/>
            <a:ext cx="530352" cy="530352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616" y="551383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103120" y="531266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Tips &amp; next steps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2103120" y="5660136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habits, common pitfalls, and where to keep learning.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·  Build Your First AI Solution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AI, really?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terms you'll hear constantly — here's how they fit together, from the broadest idea to the kind of AI making headlines today.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529584" cy="3337560"/>
          </a:xfrm>
          <a:prstGeom prst="rect">
            <a:avLst/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529584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" y="2971800"/>
            <a:ext cx="713232" cy="713232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3172968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3886200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Artificial Intelligence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960120" y="4389120"/>
            <a:ext cx="2752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that performs tasks we'd normally call “smart” — understanding language, spotting patterns, or making decisions.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07408" y="2514600"/>
            <a:ext cx="3529584" cy="3337560"/>
          </a:xfrm>
          <a:prstGeom prst="rect">
            <a:avLst/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407408" y="2514600"/>
            <a:ext cx="3529584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818888" y="2971800"/>
            <a:ext cx="713232" cy="713232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6" y="3172968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18888" y="3886200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4818888" y="4389120"/>
            <a:ext cx="2752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AI where systems learn rules from examples in data, instead of being programmed step by step.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266176" y="2514600"/>
            <a:ext cx="3529584" cy="3337560"/>
          </a:xfrm>
          <a:prstGeom prst="rect">
            <a:avLst/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266176" y="2514600"/>
            <a:ext cx="3529584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677656" y="2971800"/>
            <a:ext cx="713232" cy="713232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8824" y="317296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77656" y="3886200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</a:t>
            </a:r>
            <a:endParaRPr lang="en-US" sz="1750" dirty="0"/>
          </a:p>
        </p:txBody>
      </p:sp>
      <p:sp>
        <p:nvSpPr>
          <p:cNvPr id="23" name="Text 18"/>
          <p:cNvSpPr/>
          <p:nvPr/>
        </p:nvSpPr>
        <p:spPr>
          <a:xfrm>
            <a:off x="8677656" y="4389120"/>
            <a:ext cx="2752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create new text, images, or code from a prompt — the technology behind today's AI assistants.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·  Build Your First AI Solution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machines learn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AI model follows the same simple loop. Master this and the rest starts to make sense.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2788920"/>
            <a:ext cx="3383280" cy="2468880"/>
          </a:xfrm>
          <a:prstGeom prst="rect">
            <a:avLst/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8992" y="3172968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732" y="337870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4087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Data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78992" y="445312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system many labeled examples — photos, text, or numbers that show what “good” looks like.</a:t>
            </a:r>
            <a:endParaRPr lang="en-US" sz="12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3858768"/>
            <a:ext cx="329184" cy="3291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736592" y="2788920"/>
            <a:ext cx="3383280" cy="2468880"/>
          </a:xfrm>
          <a:prstGeom prst="rect">
            <a:avLst/>
          </a:prstGeom>
          <a:solidFill>
            <a:srgbClr val="EEF3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102352" y="3172968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8092" y="337870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02352" y="4087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Train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5102352" y="445312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adjusts itself to find patterns that connect the inputs to the right answers.</a:t>
            </a:r>
            <a:endParaRPr lang="en-US" sz="12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3858768"/>
            <a:ext cx="329184" cy="32918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759952" y="2788920"/>
            <a:ext cx="3383280" cy="2468880"/>
          </a:xfrm>
          <a:prstGeom prst="rect">
            <a:avLst/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9125712" y="3172968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1452" y="3378708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125712" y="4087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Predict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9125712" y="445312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something new, and it applies what it learned to make a useful prediction.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713232" y="5532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doesn't “think” — it finds patterns in data and reuses them. Better data usually beats a fancier model.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·  Build Your First AI Solution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your first AI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70048" cy="3611880"/>
          </a:xfrm>
          <a:prstGeom prst="rect">
            <a:avLst/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22860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DCE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304288" y="2441448"/>
            <a:ext cx="603504" cy="603504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448" y="2578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9536" y="3383280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the problem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59536" y="4114800"/>
            <a:ext cx="2167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small, clear task: “sort feedback as positive or negative.” Narrow beats ambitious.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74720" y="2057400"/>
            <a:ext cx="2670048" cy="3611880"/>
          </a:xfrm>
          <a:prstGeom prst="rect">
            <a:avLst/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767328" y="22860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DCE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Shape 10"/>
          <p:cNvSpPr/>
          <p:nvPr/>
        </p:nvSpPr>
        <p:spPr>
          <a:xfrm>
            <a:off x="5230368" y="2441448"/>
            <a:ext cx="603504" cy="603504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8" y="257860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85616" y="3383280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Gather your data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785616" y="4114800"/>
            <a:ext cx="2167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 handful of real examples. Clean, relevant data matters more than quantity at this stage.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0" y="2057400"/>
            <a:ext cx="2670048" cy="3611880"/>
          </a:xfrm>
          <a:prstGeom prst="rect">
            <a:avLst/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693408" y="22860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DCE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Shape 15"/>
          <p:cNvSpPr/>
          <p:nvPr/>
        </p:nvSpPr>
        <p:spPr>
          <a:xfrm>
            <a:off x="8156448" y="2441448"/>
            <a:ext cx="603504" cy="603504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257860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11696" y="3383280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a tool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711696" y="4114800"/>
            <a:ext cx="2167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no-code platform or a ready-made AI assistant — no need to build a model from scratch.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326880" y="2057400"/>
            <a:ext cx="2670048" cy="3611880"/>
          </a:xfrm>
          <a:prstGeom prst="rect">
            <a:avLst/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9619488" y="22860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DCE5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4000" dirty="0"/>
          </a:p>
        </p:txBody>
      </p:sp>
      <p:sp>
        <p:nvSpPr>
          <p:cNvPr id="25" name="Shape 20"/>
          <p:cNvSpPr/>
          <p:nvPr/>
        </p:nvSpPr>
        <p:spPr>
          <a:xfrm>
            <a:off x="11082528" y="2441448"/>
            <a:ext cx="603504" cy="603504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9688" y="2578608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637776" y="3383280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&amp; improve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9637776" y="4114800"/>
            <a:ext cx="2167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it, see where it's wrong, adjust your data or prompt, and repeat. Iteration is the whole game.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solution should be small enough to finish in an afternoon. Ship it, then make it better.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·  Build Your First AI Solution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·  NO-CODE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a no-code AI tool yourself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Subtitle"/>
          <p:cNvSpPr/>
          <p:nvPr/>
        </p:nvSpPr>
        <p:spPr>
          <a:xfrm>
            <a:off x="548640" y="1767840"/>
            <a:ext cx="1109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each tool, type the sample prompt, then tweak it and watch how the result changes.</a:t>
            </a:r>
            <a:endParaRPr lang="en-US" sz="1350"/>
          </a:p>
        </p:txBody>
      </p:sp>
      <p:sp>
        <p:nvSpPr>
          <p:cNvPr id="10" name="Card 1"/>
          <p:cNvSpPr/>
          <p:nvPr/>
        </p:nvSpPr>
        <p:spPr>
          <a:xfrm>
            <a:off x="548640" y="2360000"/>
            <a:ext cx="5347360" cy="29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ircle 1"/>
          <p:cNvSpPr/>
          <p:nvPr/>
        </p:nvSpPr>
        <p:spPr>
          <a:xfrm>
            <a:off x="908640" y="2680000"/>
            <a:ext cx="620000" cy="620000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con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640" y="2835000"/>
            <a:ext cx="310000" cy="310000"/>
          </a:xfrm>
          <a:prstGeom prst="rect">
            <a:avLst/>
          </a:prstGeom>
        </p:spPr>
      </p:pic>
      <p:sp>
        <p:nvSpPr>
          <p:cNvPr id="13" name="Card 1 name"/>
          <p:cNvSpPr/>
          <p:nvPr/>
        </p:nvSpPr>
        <p:spPr>
          <a:xfrm>
            <a:off x="1728640" y="2700000"/>
            <a:ext cx="380736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ChatGPT</a:t>
            </a:r>
            <a:endParaRPr lang="en-US" sz="1600"/>
          </a:p>
        </p:txBody>
      </p:sp>
      <p:sp>
        <p:nvSpPr>
          <p:cNvPr id="14" name="Card 1 tag"/>
          <p:cNvSpPr/>
          <p:nvPr/>
        </p:nvSpPr>
        <p:spPr>
          <a:xfrm>
            <a:off x="1728640" y="3030000"/>
            <a:ext cx="380736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spc="15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A QUESTION</a:t>
            </a:r>
            <a:endParaRPr lang="en-US" sz="1050"/>
          </a:p>
        </p:txBody>
      </p:sp>
      <p:sp>
        <p:nvSpPr>
          <p:cNvPr id="15" name="Prompt box 1"/>
          <p:cNvSpPr/>
          <p:nvPr/>
        </p:nvSpPr>
        <p:spPr>
          <a:xfrm>
            <a:off x="908640" y="3640000"/>
            <a:ext cx="4627360" cy="860000"/>
          </a:xfrm>
          <a:prstGeom prst="roundRect">
            <a:avLst>
              <a:gd name="adj" fmla="val 8000"/>
            </a:avLst>
          </a:prstGeom>
          <a:solidFill>
            <a:srgbClr val="F2F6FE"/>
          </a:solidFill>
          <a:ln w="12700">
            <a:solidFill>
              <a:srgbClr val="C9DBFB"/>
            </a:solidFill>
            <a:prstDash val="solid"/>
          </a:ln>
        </p:spPr>
        <p:txBody>
          <a:bodyPr wrap="square" lIns="180000" tIns="100000" rIns="180000" bIns="10000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i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“Suggest three fun weekend activities for a family visiting Colombo.”</a:t>
            </a:r>
            <a:endParaRPr lang="en-US" sz="1350" i="1"/>
          </a:p>
        </p:txBody>
      </p:sp>
      <p:sp>
        <p:nvSpPr>
          <p:cNvPr id="16" name="Hint 1"/>
          <p:cNvSpPr/>
          <p:nvPr/>
        </p:nvSpPr>
        <p:spPr>
          <a:xfrm>
            <a:off x="908640" y="4620000"/>
            <a:ext cx="462736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add a follow-up — “make them rainy-day friendly” — and watch it adapt.</a:t>
            </a:r>
            <a:endParaRPr lang="en-US" sz="1100"/>
          </a:p>
        </p:txBody>
      </p:sp>
      <p:sp>
        <p:nvSpPr>
          <p:cNvPr id="20" name="Card 2"/>
          <p:cNvSpPr/>
          <p:nvPr/>
        </p:nvSpPr>
        <p:spPr>
          <a:xfrm>
            <a:off x="6296000" y="2360000"/>
            <a:ext cx="5347360" cy="29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Circle 2"/>
          <p:cNvSpPr/>
          <p:nvPr/>
        </p:nvSpPr>
        <p:spPr>
          <a:xfrm>
            <a:off x="6656000" y="2680000"/>
            <a:ext cx="620000" cy="620000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con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000" y="2835000"/>
            <a:ext cx="310000" cy="310000"/>
          </a:xfrm>
          <a:prstGeom prst="rect">
            <a:avLst/>
          </a:prstGeom>
        </p:spPr>
      </p:pic>
      <p:sp>
        <p:nvSpPr>
          <p:cNvPr id="23" name="Card 2 name"/>
          <p:cNvSpPr/>
          <p:nvPr/>
        </p:nvSpPr>
        <p:spPr>
          <a:xfrm>
            <a:off x="7476000" y="2700000"/>
            <a:ext cx="380736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generator</a:t>
            </a:r>
            <a:endParaRPr lang="en-US" sz="1600"/>
          </a:p>
        </p:txBody>
      </p:sp>
      <p:sp>
        <p:nvSpPr>
          <p:cNvPr id="24" name="Card 2 tag"/>
          <p:cNvSpPr/>
          <p:nvPr/>
        </p:nvSpPr>
        <p:spPr>
          <a:xfrm>
            <a:off x="7476000" y="3030000"/>
            <a:ext cx="380736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spc="15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PICTURE</a:t>
            </a:r>
            <a:endParaRPr lang="en-US" sz="1050"/>
          </a:p>
        </p:txBody>
      </p:sp>
      <p:sp>
        <p:nvSpPr>
          <p:cNvPr id="25" name="Prompt box 2"/>
          <p:cNvSpPr/>
          <p:nvPr/>
        </p:nvSpPr>
        <p:spPr>
          <a:xfrm>
            <a:off x="6656000" y="3640000"/>
            <a:ext cx="4627360" cy="860000"/>
          </a:xfrm>
          <a:prstGeom prst="roundRect">
            <a:avLst>
              <a:gd name="adj" fmla="val 8000"/>
            </a:avLst>
          </a:prstGeom>
          <a:solidFill>
            <a:srgbClr val="F2F6FE"/>
          </a:solidFill>
          <a:ln w="12700">
            <a:solidFill>
              <a:srgbClr val="C9DBFB"/>
            </a:solidFill>
            <a:prstDash val="solid"/>
          </a:ln>
        </p:spPr>
        <p:txBody>
          <a:bodyPr wrap="square" lIns="180000" tIns="100000" rIns="180000" bIns="10000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i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robot in Colombo.”</a:t>
            </a:r>
            <a:endParaRPr lang="en-US" sz="1350" i="1"/>
          </a:p>
        </p:txBody>
      </p:sp>
      <p:sp>
        <p:nvSpPr>
          <p:cNvPr id="26" name="Hint 2"/>
          <p:cNvSpPr/>
          <p:nvPr/>
        </p:nvSpPr>
        <p:spPr>
          <a:xfrm>
            <a:off x="6656000" y="4620000"/>
            <a:ext cx="462736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add detail — “exploring Galle Face at sunset” — to sharpen the picture.</a:t>
            </a:r>
            <a:endParaRPr lang="en-US" sz="1100"/>
          </a:p>
        </p:txBody>
      </p:sp>
      <p:sp>
        <p:nvSpPr>
          <p:cNvPr id="40" name="Tip"/>
          <p:cNvSpPr/>
          <p:nvPr/>
        </p:nvSpPr>
        <p:spPr>
          <a:xfrm>
            <a:off x="548640" y="5520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r>
              <a:rPr lang="en-US" sz="135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wrong prompts — experiment, then compare what each tool gives you.</a:t>
            </a:r>
            <a:endParaRPr lang="en-US" sz="1350"/>
          </a:p>
        </p:txBody>
      </p:sp>
      <p:sp>
        <p:nvSpPr>
          <p:cNvPr id="41" name="Footer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·  Build Your First AI Solution</a:t>
            </a:r>
            <a:endParaRPr lang="en-US" sz="900"/>
          </a:p>
        </p:txBody>
      </p:sp>
      <p:sp>
        <p:nvSpPr>
          <p:cNvPr id="42" name="Page number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 1  ·  EASIEST</a:t>
            </a:r>
            <a:endParaRPr lang="en-US" sz="1200"/>
          </a:p>
        </p:txBody>
      </p:sp>
      <p:sp>
        <p:nvSpPr>
          <p:cNvPr id="3" name="Title"/>
          <p:cNvSpPr/>
          <p:nvPr/>
        </p:nvSpPr>
        <p:spPr>
          <a:xfrm>
            <a:off x="548640" y="822960"/>
            <a:ext cx="800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simple chatbot</a:t>
            </a:r>
            <a:endParaRPr lang="en-US" sz="3000"/>
          </a:p>
        </p:txBody>
      </p:sp>
      <p:sp>
        <p:nvSpPr>
          <p:cNvPr id="4" name="Header circle"/>
          <p:cNvSpPr/>
          <p:nvPr/>
        </p:nvSpPr>
        <p:spPr>
          <a:xfrm>
            <a:off x="10683360" y="520000"/>
            <a:ext cx="820000" cy="820000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Header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3360" y="720000"/>
            <a:ext cx="420000" cy="420000"/>
          </a:xfrm>
          <a:prstGeom prst="rect">
            <a:avLst/>
          </a:prstGeom>
        </p:spPr>
      </p:pic>
      <p:sp>
        <p:nvSpPr>
          <p:cNvPr id="6" name="Accent line"/>
          <p:cNvSpPr/>
          <p:nvPr/>
        </p:nvSpPr>
        <p:spPr>
          <a:xfrm>
            <a:off x="566928" y="1627632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bjective"/>
          <p:cNvSpPr/>
          <p:nvPr/>
        </p:nvSpPr>
        <p:spPr>
          <a:xfrm>
            <a:off x="548640" y="1767840"/>
            <a:ext cx="1109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r>
              <a:rPr lang="en-US" sz="135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chatbot that helps students with everyday school questions.</a:t>
            </a:r>
            <a:endParaRPr lang="en-US" sz="1350"/>
          </a:p>
        </p:txBody>
      </p:sp>
      <p:sp>
        <p:nvSpPr>
          <p:cNvPr id="10" name="Steps card"/>
          <p:cNvSpPr/>
          <p:nvPr/>
        </p:nvSpPr>
        <p:spPr>
          <a:xfrm>
            <a:off x="548640" y="2300000"/>
            <a:ext cx="5100000" cy="356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s heading"/>
          <p:cNvSpPr/>
          <p:nvPr/>
        </p:nvSpPr>
        <p:spPr>
          <a:xfrm>
            <a:off x="888640" y="2560000"/>
            <a:ext cx="442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spc="2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FOLLOW</a:t>
            </a:r>
            <a:endParaRPr lang="en-US" sz="1100"/>
          </a:p>
        </p:txBody>
      </p:sp>
      <p:sp>
        <p:nvSpPr>
          <p:cNvPr id="12" name="Num 1"/>
          <p:cNvSpPr/>
          <p:nvPr/>
        </p:nvSpPr>
        <p:spPr>
          <a:xfrm>
            <a:off x="888640" y="2980000"/>
            <a:ext cx="480000" cy="480000"/>
          </a:xfrm>
          <a:prstGeom prst="ellipse">
            <a:avLst/>
          </a:prstGeom>
          <a:solidFill>
            <a:srgbClr val="EEF3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/>
          </a:p>
        </p:txBody>
      </p:sp>
      <p:sp>
        <p:nvSpPr>
          <p:cNvPr id="13" name="Step 1 text"/>
          <p:cNvSpPr/>
          <p:nvPr/>
        </p:nvSpPr>
        <p:spPr>
          <a:xfrm>
            <a:off x="1568640" y="2980000"/>
            <a:ext cx="374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ChatGPT or Microsoft Copilot in your browser.</a:t>
            </a:r>
            <a:endParaRPr lang="en-US" sz="1250"/>
          </a:p>
        </p:txBody>
      </p:sp>
      <p:sp>
        <p:nvSpPr>
          <p:cNvPr id="14" name="Num 2"/>
          <p:cNvSpPr/>
          <p:nvPr/>
        </p:nvSpPr>
        <p:spPr>
          <a:xfrm>
            <a:off x="888640" y="3840000"/>
            <a:ext cx="480000" cy="480000"/>
          </a:xfrm>
          <a:prstGeom prst="ellipse">
            <a:avLst/>
          </a:prstGeom>
          <a:solidFill>
            <a:srgbClr val="EEF3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/>
          </a:p>
        </p:txBody>
      </p:sp>
      <p:sp>
        <p:nvSpPr>
          <p:cNvPr id="15" name="Step 2 text"/>
          <p:cNvSpPr/>
          <p:nvPr/>
        </p:nvSpPr>
        <p:spPr>
          <a:xfrm>
            <a:off x="1568640" y="3840000"/>
            <a:ext cx="374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starter prompt and type it into the chat.</a:t>
            </a:r>
            <a:endParaRPr lang="en-US" sz="1250" dirty="0"/>
          </a:p>
        </p:txBody>
      </p:sp>
      <p:sp>
        <p:nvSpPr>
          <p:cNvPr id="16" name="Num 3"/>
          <p:cNvSpPr/>
          <p:nvPr/>
        </p:nvSpPr>
        <p:spPr>
          <a:xfrm>
            <a:off x="888640" y="4700000"/>
            <a:ext cx="480000" cy="480000"/>
          </a:xfrm>
          <a:prstGeom prst="ellipse">
            <a:avLst/>
          </a:prstGeom>
          <a:solidFill>
            <a:srgbClr val="EEF3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/>
          </a:p>
        </p:txBody>
      </p:sp>
      <p:sp>
        <p:nvSpPr>
          <p:cNvPr id="17" name="Step 3 text"/>
          <p:cNvSpPr/>
          <p:nvPr/>
        </p:nvSpPr>
        <p:spPr>
          <a:xfrm>
            <a:off x="1568640" y="4700000"/>
            <a:ext cx="374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it, then try the test questions on the right.</a:t>
            </a:r>
            <a:endParaRPr lang="en-US" sz="1250"/>
          </a:p>
        </p:txBody>
      </p:sp>
      <p:sp>
        <p:nvSpPr>
          <p:cNvPr id="20" name="Prompt card"/>
          <p:cNvSpPr/>
          <p:nvPr/>
        </p:nvSpPr>
        <p:spPr>
          <a:xfrm>
            <a:off x="5948640" y="2300000"/>
            <a:ext cx="5694720" cy="356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Prompt heading"/>
          <p:cNvSpPr/>
          <p:nvPr/>
        </p:nvSpPr>
        <p:spPr>
          <a:xfrm>
            <a:off x="6288640" y="2560000"/>
            <a:ext cx="5014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spc="2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PROMPT</a:t>
            </a:r>
            <a:endParaRPr lang="en-US" sz="1100"/>
          </a:p>
        </p:txBody>
      </p:sp>
      <p:sp>
        <p:nvSpPr>
          <p:cNvPr id="22" name="Prompt box"/>
          <p:cNvSpPr/>
          <p:nvPr/>
        </p:nvSpPr>
        <p:spPr>
          <a:xfrm>
            <a:off x="6288640" y="2900000"/>
            <a:ext cx="5014720" cy="1640000"/>
          </a:xfrm>
          <a:prstGeom prst="roundRect">
            <a:avLst>
              <a:gd name="adj" fmla="val 6000"/>
            </a:avLst>
          </a:prstGeom>
          <a:solidFill>
            <a:srgbClr val="F2F6FE"/>
          </a:solidFill>
          <a:ln w="12700">
            <a:solidFill>
              <a:srgbClr val="C9DBFB"/>
            </a:solidFill>
            <a:prstDash val="solid"/>
          </a:ln>
        </p:spPr>
        <p:txBody>
          <a:bodyPr wrap="square" lIns="180000" tIns="140000" rIns="180000" bIns="14000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>
                <a:solidFill>
                  <a:srgbClr val="1A1A1A"/>
                </a:solidFill>
                <a:latin typeface="Consolas" pitchFamily="49" charset="0"/>
                <a:cs typeface="Consolas" pitchFamily="49" charset="0"/>
              </a:rPr>
              <a:t>You are a helpful school assistant chatbot.</a:t>
            </a:r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>
                <a:solidFill>
                  <a:srgbClr val="1A1A1A"/>
                </a:solidFill>
                <a:latin typeface="Consolas" pitchFamily="49" charset="0"/>
                <a:cs typeface="Consolas" pitchFamily="49" charset="0"/>
              </a:rPr>
              <a:t>Answer questions about: exams, timetables, subjects.</a:t>
            </a:r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>
                <a:solidFill>
                  <a:srgbClr val="1A1A1A"/>
                </a:solidFill>
                <a:latin typeface="Consolas" pitchFamily="49" charset="0"/>
                <a:cs typeface="Consolas" pitchFamily="49" charset="0"/>
              </a:rPr>
              <a:t>Keep answers simple and friendly.</a:t>
            </a:r>
            <a:endParaRPr lang="en-US" sz="115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3" name="Test heading"/>
          <p:cNvSpPr/>
          <p:nvPr/>
        </p:nvSpPr>
        <p:spPr>
          <a:xfrm>
            <a:off x="6288640" y="4680000"/>
            <a:ext cx="5014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spc="2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</a:t>
            </a:r>
            <a:endParaRPr lang="en-US" sz="1100"/>
          </a:p>
        </p:txBody>
      </p:sp>
      <p:sp>
        <p:nvSpPr>
          <p:cNvPr id="24" name="Chip 1"/>
          <p:cNvSpPr/>
          <p:nvPr/>
        </p:nvSpPr>
        <p:spPr>
          <a:xfrm>
            <a:off x="6288640" y="5020000"/>
            <a:ext cx="2100000" cy="4600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/>
        </p:spPr>
        <p:txBody>
          <a:bodyPr wrap="square" lIns="120000" tIns="0" rIns="12000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are exams?”</a:t>
            </a:r>
            <a:endParaRPr lang="en-US" sz="1150"/>
          </a:p>
        </p:txBody>
      </p:sp>
      <p:sp>
        <p:nvSpPr>
          <p:cNvPr id="25" name="Chip 2"/>
          <p:cNvSpPr/>
          <p:nvPr/>
        </p:nvSpPr>
        <p:spPr>
          <a:xfrm>
            <a:off x="8588640" y="5020000"/>
            <a:ext cx="2714720" cy="4600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/>
        </p:spPr>
        <p:txBody>
          <a:bodyPr wrap="square" lIns="120000" tIns="0" rIns="12000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subjects are available?”</a:t>
            </a:r>
            <a:endParaRPr lang="en-US" sz="1150"/>
          </a:p>
        </p:txBody>
      </p:sp>
      <p:sp>
        <p:nvSpPr>
          <p:cNvPr id="41" name="Footer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·  Build Your First AI Solution</a:t>
            </a:r>
            <a:endParaRPr lang="en-US" sz="900"/>
          </a:p>
        </p:txBody>
      </p:sp>
      <p:sp>
        <p:nvSpPr>
          <p:cNvPr id="42" name="Page number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 2  ·  BEST FOR THINKING</a:t>
            </a:r>
            <a:endParaRPr lang="en-US" sz="1200"/>
          </a:p>
        </p:txBody>
      </p:sp>
      <p:sp>
        <p:nvSpPr>
          <p:cNvPr id="3" name="Title"/>
          <p:cNvSpPr/>
          <p:nvPr/>
        </p:nvSpPr>
        <p:spPr>
          <a:xfrm>
            <a:off x="548640" y="822960"/>
            <a:ext cx="800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for social good</a:t>
            </a:r>
            <a:endParaRPr lang="en-US" sz="3000"/>
          </a:p>
        </p:txBody>
      </p:sp>
      <p:sp>
        <p:nvSpPr>
          <p:cNvPr id="4" name="Header circle"/>
          <p:cNvSpPr/>
          <p:nvPr/>
        </p:nvSpPr>
        <p:spPr>
          <a:xfrm>
            <a:off x="10683360" y="520000"/>
            <a:ext cx="820000" cy="820000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Header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3360" y="720000"/>
            <a:ext cx="420000" cy="420000"/>
          </a:xfrm>
          <a:prstGeom prst="rect">
            <a:avLst/>
          </a:prstGeom>
        </p:spPr>
      </p:pic>
      <p:sp>
        <p:nvSpPr>
          <p:cNvPr id="6" name="Accent line"/>
          <p:cNvSpPr/>
          <p:nvPr/>
        </p:nvSpPr>
        <p:spPr>
          <a:xfrm>
            <a:off x="566928" y="1627632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bjective"/>
          <p:cNvSpPr/>
          <p:nvPr/>
        </p:nvSpPr>
        <p:spPr>
          <a:xfrm>
            <a:off x="548640" y="1767840"/>
            <a:ext cx="1109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 </a:t>
            </a:r>
            <a:r>
              <a:rPr lang="en-US" sz="135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real-world problem and design an AI solution that could help.</a:t>
            </a:r>
            <a:endParaRPr lang="en-US" sz="1350"/>
          </a:p>
        </p:txBody>
      </p:sp>
      <p:sp>
        <p:nvSpPr>
          <p:cNvPr id="10" name="Steps card"/>
          <p:cNvSpPr/>
          <p:nvPr/>
        </p:nvSpPr>
        <p:spPr>
          <a:xfrm>
            <a:off x="548640" y="2300000"/>
            <a:ext cx="5100000" cy="356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s heading"/>
          <p:cNvSpPr/>
          <p:nvPr/>
        </p:nvSpPr>
        <p:spPr>
          <a:xfrm>
            <a:off x="888640" y="2560000"/>
            <a:ext cx="442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spc="2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100"/>
          </a:p>
        </p:txBody>
      </p:sp>
      <p:sp>
        <p:nvSpPr>
          <p:cNvPr id="12" name="Num 1"/>
          <p:cNvSpPr/>
          <p:nvPr/>
        </p:nvSpPr>
        <p:spPr>
          <a:xfrm>
            <a:off x="888640" y="2980000"/>
            <a:ext cx="480000" cy="480000"/>
          </a:xfrm>
          <a:prstGeom prst="ellipse">
            <a:avLst/>
          </a:prstGeom>
          <a:solidFill>
            <a:srgbClr val="EEF3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/>
          </a:p>
        </p:txBody>
      </p:sp>
      <p:sp>
        <p:nvSpPr>
          <p:cNvPr id="13" name="Step 1 text"/>
          <p:cNvSpPr/>
          <p:nvPr/>
        </p:nvSpPr>
        <p:spPr>
          <a:xfrm>
            <a:off x="1568640" y="2980000"/>
            <a:ext cx="374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real problem you care about — school, city, or environment.</a:t>
            </a:r>
            <a:endParaRPr lang="en-US" sz="1250"/>
          </a:p>
        </p:txBody>
      </p:sp>
      <p:sp>
        <p:nvSpPr>
          <p:cNvPr id="14" name="Num 2"/>
          <p:cNvSpPr/>
          <p:nvPr/>
        </p:nvSpPr>
        <p:spPr>
          <a:xfrm>
            <a:off x="888640" y="3840000"/>
            <a:ext cx="480000" cy="480000"/>
          </a:xfrm>
          <a:prstGeom prst="ellipse">
            <a:avLst/>
          </a:prstGeom>
          <a:solidFill>
            <a:srgbClr val="EEF3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/>
          </a:p>
        </p:txBody>
      </p:sp>
      <p:sp>
        <p:nvSpPr>
          <p:cNvPr id="15" name="Step 2 text"/>
          <p:cNvSpPr/>
          <p:nvPr/>
        </p:nvSpPr>
        <p:spPr>
          <a:xfrm>
            <a:off x="1568640" y="3840000"/>
            <a:ext cx="374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prompt and swap in your chosen problem.</a:t>
            </a:r>
            <a:endParaRPr lang="en-US" sz="1250" dirty="0"/>
          </a:p>
        </p:txBody>
      </p:sp>
      <p:sp>
        <p:nvSpPr>
          <p:cNvPr id="16" name="Num 3"/>
          <p:cNvSpPr/>
          <p:nvPr/>
        </p:nvSpPr>
        <p:spPr>
          <a:xfrm>
            <a:off x="888640" y="4700000"/>
            <a:ext cx="480000" cy="480000"/>
          </a:xfrm>
          <a:prstGeom prst="ellipse">
            <a:avLst/>
          </a:prstGeom>
          <a:solidFill>
            <a:srgbClr val="EEF3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/>
          </a:p>
        </p:txBody>
      </p:sp>
      <p:sp>
        <p:nvSpPr>
          <p:cNvPr id="17" name="Step 3 text"/>
          <p:cNvSpPr/>
          <p:nvPr/>
        </p:nvSpPr>
        <p:spPr>
          <a:xfrm>
            <a:off x="1568640" y="4700000"/>
            <a:ext cx="374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to explain the data, the help, and an example output.</a:t>
            </a:r>
            <a:endParaRPr lang="en-US" sz="1250"/>
          </a:p>
        </p:txBody>
      </p:sp>
      <p:sp>
        <p:nvSpPr>
          <p:cNvPr id="20" name="Prompt card"/>
          <p:cNvSpPr/>
          <p:nvPr/>
        </p:nvSpPr>
        <p:spPr>
          <a:xfrm>
            <a:off x="5948640" y="2300000"/>
            <a:ext cx="5694720" cy="356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Prompt heading"/>
          <p:cNvSpPr/>
          <p:nvPr/>
        </p:nvSpPr>
        <p:spPr>
          <a:xfrm>
            <a:off x="6288640" y="2560000"/>
            <a:ext cx="5014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spc="2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PROMPT</a:t>
            </a:r>
            <a:endParaRPr lang="en-US" sz="1100"/>
          </a:p>
        </p:txBody>
      </p:sp>
      <p:sp>
        <p:nvSpPr>
          <p:cNvPr id="22" name="Prompt box"/>
          <p:cNvSpPr/>
          <p:nvPr/>
        </p:nvSpPr>
        <p:spPr>
          <a:xfrm>
            <a:off x="6288640" y="2900000"/>
            <a:ext cx="5014720" cy="1640000"/>
          </a:xfrm>
          <a:prstGeom prst="roundRect">
            <a:avLst>
              <a:gd name="adj" fmla="val 6000"/>
            </a:avLst>
          </a:prstGeom>
          <a:solidFill>
            <a:srgbClr val="F2F6FE"/>
          </a:solidFill>
          <a:ln w="12700">
            <a:solidFill>
              <a:srgbClr val="C9DBFB"/>
            </a:solidFill>
            <a:prstDash val="solid"/>
          </a:ln>
        </p:spPr>
        <p:txBody>
          <a:bodyPr wrap="square" lIns="180000" tIns="140000" rIns="180000" bIns="14000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>
                <a:solidFill>
                  <a:srgbClr val="1A1A1A"/>
                </a:solidFill>
                <a:latin typeface="Consolas" pitchFamily="49" charset="0"/>
                <a:cs typeface="Consolas" pitchFamily="49" charset="0"/>
              </a:rPr>
              <a:t>Suggest an AI solution for [problem].</a:t>
            </a:r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>
                <a:solidFill>
                  <a:srgbClr val="1A1A1A"/>
                </a:solidFill>
                <a:latin typeface="Consolas" pitchFamily="49" charset="0"/>
                <a:cs typeface="Consolas" pitchFamily="49" charset="0"/>
              </a:rPr>
              <a:t>Explain:</a:t>
            </a:r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>
                <a:solidFill>
                  <a:srgbClr val="1A1A1A"/>
                </a:solidFill>
                <a:latin typeface="Consolas" pitchFamily="49" charset="0"/>
                <a:cs typeface="Consolas" pitchFamily="49" charset="0"/>
              </a:rPr>
              <a:t>- What data is needed</a:t>
            </a:r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>
                <a:solidFill>
                  <a:srgbClr val="1A1A1A"/>
                </a:solidFill>
                <a:latin typeface="Consolas" pitchFamily="49" charset="0"/>
                <a:cs typeface="Consolas" pitchFamily="49" charset="0"/>
              </a:rPr>
              <a:t>- How AI will help</a:t>
            </a:r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>
                <a:solidFill>
                  <a:srgbClr val="1A1A1A"/>
                </a:solidFill>
                <a:latin typeface="Consolas" pitchFamily="49" charset="0"/>
                <a:cs typeface="Consolas" pitchFamily="49" charset="0"/>
              </a:rPr>
              <a:t>- Example output</a:t>
            </a:r>
            <a:endParaRPr lang="en-US" sz="115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3" name="Test heading"/>
          <p:cNvSpPr/>
          <p:nvPr/>
        </p:nvSpPr>
        <p:spPr>
          <a:xfrm>
            <a:off x="6288640" y="4680000"/>
            <a:ext cx="5014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spc="2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/>
          </a:p>
        </p:txBody>
      </p:sp>
      <p:sp>
        <p:nvSpPr>
          <p:cNvPr id="24" name="Chip 1"/>
          <p:cNvSpPr/>
          <p:nvPr/>
        </p:nvSpPr>
        <p:spPr>
          <a:xfrm>
            <a:off x="6288640" y="5000000"/>
            <a:ext cx="5014720" cy="4000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/>
        </p:spPr>
        <p:txBody>
          <a:bodyPr wrap="square" lIns="120000" tIns="0" rIns="12000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Traffic in Colombo</a:t>
            </a:r>
            <a:endParaRPr lang="en-US" sz="1150"/>
          </a:p>
        </p:txBody>
      </p:sp>
      <p:sp>
        <p:nvSpPr>
          <p:cNvPr id="25" name="Chip 2"/>
          <p:cNvSpPr/>
          <p:nvPr/>
        </p:nvSpPr>
        <p:spPr>
          <a:xfrm>
            <a:off x="6288640" y="5440000"/>
            <a:ext cx="5014720" cy="4000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/>
        </p:spPr>
        <p:txBody>
          <a:bodyPr wrap="square" lIns="120000" tIns="0" rIns="12000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AI predicts congestion</a:t>
            </a:r>
            <a:endParaRPr lang="en-US" sz="1150"/>
          </a:p>
        </p:txBody>
      </p:sp>
      <p:sp>
        <p:nvSpPr>
          <p:cNvPr id="41" name="Footer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·  Build Your First AI Solution</a:t>
            </a:r>
            <a:endParaRPr lang="en-US" sz="900"/>
          </a:p>
        </p:txBody>
      </p:sp>
      <p:sp>
        <p:nvSpPr>
          <p:cNvPr id="42" name="Page number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 3  ·  FUN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822960"/>
            <a:ext cx="800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Creative AI</a:t>
            </a:r>
            <a:endParaRPr lang="en-US" sz="3000"/>
          </a:p>
        </p:txBody>
      </p:sp>
      <p:sp>
        <p:nvSpPr>
          <p:cNvPr id="4" name="Header circle"/>
          <p:cNvSpPr/>
          <p:nvPr/>
        </p:nvSpPr>
        <p:spPr>
          <a:xfrm>
            <a:off x="10683360" y="520000"/>
            <a:ext cx="820000" cy="820000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Header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3360" y="720000"/>
            <a:ext cx="420000" cy="420000"/>
          </a:xfrm>
          <a:prstGeom prst="rect">
            <a:avLst/>
          </a:prstGeom>
        </p:spPr>
      </p:pic>
      <p:sp>
        <p:nvSpPr>
          <p:cNvPr id="6" name="Accent line"/>
          <p:cNvSpPr/>
          <p:nvPr/>
        </p:nvSpPr>
        <p:spPr>
          <a:xfrm>
            <a:off x="566928" y="1627632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Intro"/>
          <p:cNvSpPr/>
          <p:nvPr/>
        </p:nvSpPr>
        <p:spPr>
          <a:xfrm>
            <a:off x="548640" y="1767840"/>
            <a:ext cx="1109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one:  </a:t>
            </a:r>
            <a:r>
              <a:rPr lang="en-US" sz="135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AI show off by generating a story, an image, or a set of fresh ideas.</a:t>
            </a:r>
            <a:endParaRPr lang="en-US" sz="1350"/>
          </a:p>
        </p:txBody>
      </p:sp>
      <p:sp>
        <p:nvSpPr>
          <p:cNvPr id="20" name="Card A"/>
          <p:cNvSpPr/>
          <p:nvPr/>
        </p:nvSpPr>
        <p:spPr>
          <a:xfrm>
            <a:off x="548640" y="2300000"/>
            <a:ext cx="3500000" cy="356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adge A"/>
          <p:cNvSpPr/>
          <p:nvPr/>
        </p:nvSpPr>
        <p:spPr>
          <a:xfrm>
            <a:off x="888640" y="2560000"/>
            <a:ext cx="560000" cy="560000"/>
          </a:xfrm>
          <a:prstGeom prst="ellipse">
            <a:avLst/>
          </a:prstGeom>
          <a:solidFill>
            <a:srgbClr val="EEF3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500"/>
          </a:p>
        </p:txBody>
      </p:sp>
      <p:sp>
        <p:nvSpPr>
          <p:cNvPr id="22" name="Heading A"/>
          <p:cNvSpPr/>
          <p:nvPr/>
        </p:nvSpPr>
        <p:spPr>
          <a:xfrm>
            <a:off x="888640" y="3260000"/>
            <a:ext cx="282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spc="2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GENERATION</a:t>
            </a:r>
            <a:endParaRPr lang="en-US" sz="1100"/>
          </a:p>
        </p:txBody>
      </p:sp>
      <p:sp>
        <p:nvSpPr>
          <p:cNvPr id="23" name="Desc A"/>
          <p:cNvSpPr/>
          <p:nvPr/>
        </p:nvSpPr>
        <p:spPr>
          <a:xfrm>
            <a:off x="888640" y="3560000"/>
            <a:ext cx="282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something imaginative.</a:t>
            </a:r>
            <a:endParaRPr lang="en-US" sz="1050"/>
          </a:p>
        </p:txBody>
      </p:sp>
      <p:sp>
        <p:nvSpPr>
          <p:cNvPr id="24" name="Prompt A"/>
          <p:cNvSpPr/>
          <p:nvPr/>
        </p:nvSpPr>
        <p:spPr>
          <a:xfrm>
            <a:off x="888640" y="3900000"/>
            <a:ext cx="2820000" cy="1700000"/>
          </a:xfrm>
          <a:prstGeom prst="roundRect">
            <a:avLst>
              <a:gd name="adj" fmla="val 6000"/>
            </a:avLst>
          </a:prstGeom>
          <a:solidFill>
            <a:srgbClr val="F2F6FE"/>
          </a:solidFill>
          <a:ln w="12700">
            <a:solidFill>
              <a:srgbClr val="C9DBFB"/>
            </a:solidFill>
            <a:prstDash val="solid"/>
          </a:ln>
        </p:spPr>
        <p:txBody>
          <a:bodyPr wrap="square" lIns="150000" tIns="130000" rIns="150000" bIns="13000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>
                <a:solidFill>
                  <a:srgbClr val="1A1A1A"/>
                </a:solidFill>
                <a:latin typeface="Consolas" pitchFamily="49" charset="0"/>
                <a:cs typeface="Consolas" pitchFamily="49" charset="0"/>
              </a:rPr>
              <a:t>Create a short story about a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>
                <a:solidFill>
                  <a:srgbClr val="1A1A1A"/>
                </a:solidFill>
                <a:latin typeface="Consolas" pitchFamily="49" charset="0"/>
                <a:cs typeface="Consolas" pitchFamily="49" charset="0"/>
              </a:rPr>
              <a:t>student who uses AI to solve a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>
                <a:solidFill>
                  <a:srgbClr val="1A1A1A"/>
                </a:solidFill>
                <a:latin typeface="Consolas" pitchFamily="49" charset="0"/>
                <a:cs typeface="Consolas" pitchFamily="49" charset="0"/>
              </a:rPr>
              <a:t>major problem.</a:t>
            </a:r>
          </a:p>
        </p:txBody>
      </p:sp>
      <p:sp>
        <p:nvSpPr>
          <p:cNvPr id="30" name="Card B"/>
          <p:cNvSpPr/>
          <p:nvPr/>
        </p:nvSpPr>
        <p:spPr>
          <a:xfrm>
            <a:off x="4346000" y="2300000"/>
            <a:ext cx="3500000" cy="356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Badge B"/>
          <p:cNvSpPr/>
          <p:nvPr/>
        </p:nvSpPr>
        <p:spPr>
          <a:xfrm>
            <a:off x="4686000" y="2560000"/>
            <a:ext cx="560000" cy="560000"/>
          </a:xfrm>
          <a:prstGeom prst="ellipse">
            <a:avLst/>
          </a:prstGeom>
          <a:solidFill>
            <a:srgbClr val="EEF3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500"/>
          </a:p>
        </p:txBody>
      </p:sp>
      <p:sp>
        <p:nvSpPr>
          <p:cNvPr id="32" name="Heading B"/>
          <p:cNvSpPr/>
          <p:nvPr/>
        </p:nvSpPr>
        <p:spPr>
          <a:xfrm>
            <a:off x="4686000" y="3260000"/>
            <a:ext cx="282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spc="2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</a:t>
            </a:r>
            <a:endParaRPr lang="en-US" sz="1100"/>
          </a:p>
        </p:txBody>
      </p:sp>
      <p:sp>
        <p:nvSpPr>
          <p:cNvPr id="33" name="Desc B"/>
          <p:cNvSpPr/>
          <p:nvPr/>
        </p:nvSpPr>
        <p:spPr>
          <a:xfrm>
            <a:off x="4686000" y="3560000"/>
            <a:ext cx="282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it visually.</a:t>
            </a:r>
            <a:endParaRPr lang="en-US" sz="1050"/>
          </a:p>
        </p:txBody>
      </p:sp>
      <p:sp>
        <p:nvSpPr>
          <p:cNvPr id="34" name="Prompt B"/>
          <p:cNvSpPr/>
          <p:nvPr/>
        </p:nvSpPr>
        <p:spPr>
          <a:xfrm>
            <a:off x="4686000" y="3900000"/>
            <a:ext cx="2820000" cy="1700000"/>
          </a:xfrm>
          <a:prstGeom prst="roundRect">
            <a:avLst>
              <a:gd name="adj" fmla="val 6000"/>
            </a:avLst>
          </a:prstGeom>
          <a:solidFill>
            <a:srgbClr val="F2F6FE"/>
          </a:solidFill>
          <a:ln w="12700">
            <a:solidFill>
              <a:srgbClr val="C9DBFB"/>
            </a:solidFill>
            <a:prstDash val="solid"/>
          </a:ln>
        </p:spPr>
        <p:txBody>
          <a:bodyPr wrap="square" lIns="150000" tIns="130000" rIns="150000" bIns="13000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>
                <a:solidFill>
                  <a:srgbClr val="1A1A1A"/>
                </a:solidFill>
                <a:latin typeface="Consolas" pitchFamily="49" charset="0"/>
                <a:cs typeface="Consolas" pitchFamily="49" charset="0"/>
              </a:rPr>
              <a:t>Generate an image of a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>
                <a:solidFill>
                  <a:srgbClr val="1A1A1A"/>
                </a:solidFill>
                <a:latin typeface="Consolas" pitchFamily="49" charset="0"/>
                <a:cs typeface="Consolas" pitchFamily="49" charset="0"/>
              </a:rPr>
              <a:t>futuristic Sri Lankan city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>
                <a:solidFill>
                  <a:srgbClr val="1A1A1A"/>
                </a:solidFill>
                <a:latin typeface="Consolas" pitchFamily="49" charset="0"/>
                <a:cs typeface="Consolas" pitchFamily="49" charset="0"/>
              </a:rPr>
              <a:t>powered by AI.</a:t>
            </a:r>
          </a:p>
        </p:txBody>
      </p:sp>
      <p:sp>
        <p:nvSpPr>
          <p:cNvPr id="40" name="Card C"/>
          <p:cNvSpPr/>
          <p:nvPr/>
        </p:nvSpPr>
        <p:spPr>
          <a:xfrm>
            <a:off x="8143360" y="2300000"/>
            <a:ext cx="3500000" cy="356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Badge C"/>
          <p:cNvSpPr/>
          <p:nvPr/>
        </p:nvSpPr>
        <p:spPr>
          <a:xfrm>
            <a:off x="8483360" y="2560000"/>
            <a:ext cx="560000" cy="560000"/>
          </a:xfrm>
          <a:prstGeom prst="ellipse">
            <a:avLst/>
          </a:prstGeom>
          <a:solidFill>
            <a:srgbClr val="EEF3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500"/>
          </a:p>
        </p:txBody>
      </p:sp>
      <p:sp>
        <p:nvSpPr>
          <p:cNvPr id="42" name="Heading C"/>
          <p:cNvSpPr/>
          <p:nvPr/>
        </p:nvSpPr>
        <p:spPr>
          <a:xfrm>
            <a:off x="8483360" y="3260000"/>
            <a:ext cx="282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spc="2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GENERATION</a:t>
            </a:r>
            <a:endParaRPr lang="en-US" sz="1100"/>
          </a:p>
        </p:txBody>
      </p:sp>
      <p:sp>
        <p:nvSpPr>
          <p:cNvPr id="43" name="Desc C"/>
          <p:cNvSpPr/>
          <p:nvPr/>
        </p:nvSpPr>
        <p:spPr>
          <a:xfrm>
            <a:off x="8483360" y="3560000"/>
            <a:ext cx="282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 new ideas.</a:t>
            </a:r>
            <a:endParaRPr lang="en-US" sz="1050"/>
          </a:p>
        </p:txBody>
      </p:sp>
      <p:sp>
        <p:nvSpPr>
          <p:cNvPr id="44" name="Prompt C"/>
          <p:cNvSpPr/>
          <p:nvPr/>
        </p:nvSpPr>
        <p:spPr>
          <a:xfrm>
            <a:off x="8483360" y="3900000"/>
            <a:ext cx="2820000" cy="1700000"/>
          </a:xfrm>
          <a:prstGeom prst="roundRect">
            <a:avLst>
              <a:gd name="adj" fmla="val 6000"/>
            </a:avLst>
          </a:prstGeom>
          <a:solidFill>
            <a:srgbClr val="F2F6FE"/>
          </a:solidFill>
          <a:ln w="12700">
            <a:solidFill>
              <a:srgbClr val="C9DBFB"/>
            </a:solidFill>
            <a:prstDash val="solid"/>
          </a:ln>
        </p:spPr>
        <p:txBody>
          <a:bodyPr wrap="square" lIns="150000" tIns="130000" rIns="150000" bIns="13000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>
                <a:solidFill>
                  <a:srgbClr val="1A1A1A"/>
                </a:solidFill>
                <a:latin typeface="Consolas" pitchFamily="49" charset="0"/>
                <a:cs typeface="Consolas" pitchFamily="49" charset="0"/>
              </a:rPr>
              <a:t>Give me 5 innovative AI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>
                <a:solidFill>
                  <a:srgbClr val="1A1A1A"/>
                </a:solidFill>
                <a:latin typeface="Consolas" pitchFamily="49" charset="0"/>
                <a:cs typeface="Consolas" pitchFamily="49" charset="0"/>
              </a:rPr>
              <a:t>startup ideas for students.</a:t>
            </a:r>
          </a:p>
        </p:txBody>
      </p:sp>
      <p:sp>
        <p:nvSpPr>
          <p:cNvPr id="50" name="Footer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·  Build Your First AI Solution</a:t>
            </a:r>
            <a:endParaRPr lang="en-US" sz="900"/>
          </a:p>
        </p:txBody>
      </p:sp>
      <p:sp>
        <p:nvSpPr>
          <p:cNvPr id="51" name="Page number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WAY TO BUILD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vibe coding?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1371600" y="2020824"/>
            <a:ext cx="530352" cy="530352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21488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194767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Plain language in</a:t>
            </a:r>
            <a:endParaRPr lang="en-US" sz="1700"/>
          </a:p>
        </p:txBody>
      </p:sp>
      <p:sp>
        <p:nvSpPr>
          <p:cNvPr id="9" name="Text 6"/>
          <p:cNvSpPr/>
          <p:nvPr/>
        </p:nvSpPr>
        <p:spPr>
          <a:xfrm>
            <a:off x="2103120" y="2295144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what you want in everyday words — no syntax, no boilerplate.</a:t>
            </a:r>
            <a:endParaRPr lang="en-US" sz="1250"/>
          </a:p>
        </p:txBody>
      </p:sp>
      <p:sp>
        <p:nvSpPr>
          <p:cNvPr id="10" name="Text 7"/>
          <p:cNvSpPr/>
          <p:nvPr/>
        </p:nvSpPr>
        <p:spPr>
          <a:xfrm>
            <a:off x="548640" y="280720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/>
          </a:p>
        </p:txBody>
      </p:sp>
      <p:sp>
        <p:nvSpPr>
          <p:cNvPr id="11" name="Shape 8"/>
          <p:cNvSpPr/>
          <p:nvPr/>
        </p:nvSpPr>
        <p:spPr>
          <a:xfrm>
            <a:off x="1371600" y="2862072"/>
            <a:ext cx="530352" cy="530352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616" y="299008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03120" y="27889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writes the code</a:t>
            </a:r>
            <a:endParaRPr lang="en-US" sz="1700"/>
          </a:p>
        </p:txBody>
      </p:sp>
      <p:sp>
        <p:nvSpPr>
          <p:cNvPr id="14" name="Text 10"/>
          <p:cNvSpPr/>
          <p:nvPr/>
        </p:nvSpPr>
        <p:spPr>
          <a:xfrm>
            <a:off x="2103120" y="313639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turns your prompt into working code and wires the pieces together.</a:t>
            </a:r>
            <a:endParaRPr lang="en-US" sz="1250"/>
          </a:p>
        </p:txBody>
      </p:sp>
      <p:sp>
        <p:nvSpPr>
          <p:cNvPr id="15" name="Text 11"/>
          <p:cNvSpPr/>
          <p:nvPr/>
        </p:nvSpPr>
        <p:spPr>
          <a:xfrm>
            <a:off x="548640" y="364845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/>
          </a:p>
        </p:txBody>
      </p:sp>
      <p:sp>
        <p:nvSpPr>
          <p:cNvPr id="16" name="Shape 12"/>
          <p:cNvSpPr/>
          <p:nvPr/>
        </p:nvSpPr>
        <p:spPr>
          <a:xfrm>
            <a:off x="1371600" y="3703320"/>
            <a:ext cx="530352" cy="530352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616" y="383133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363016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and react</a:t>
            </a:r>
            <a:endParaRPr lang="en-US" sz="1700"/>
          </a:p>
        </p:txBody>
      </p:sp>
      <p:sp>
        <p:nvSpPr>
          <p:cNvPr id="19" name="Text 14"/>
          <p:cNvSpPr/>
          <p:nvPr/>
        </p:nvSpPr>
        <p:spPr>
          <a:xfrm>
            <a:off x="2103120" y="39776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it, watch what happens, and respond to the result rather than the code.</a:t>
            </a:r>
            <a:endParaRPr lang="en-US" sz="1250"/>
          </a:p>
        </p:txBody>
      </p:sp>
      <p:sp>
        <p:nvSpPr>
          <p:cNvPr id="20" name="Text 15"/>
          <p:cNvSpPr/>
          <p:nvPr/>
        </p:nvSpPr>
        <p:spPr>
          <a:xfrm>
            <a:off x="548640" y="448970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/>
          </a:p>
        </p:txBody>
      </p:sp>
      <p:sp>
        <p:nvSpPr>
          <p:cNvPr id="21" name="Shape 16"/>
          <p:cNvSpPr/>
          <p:nvPr/>
        </p:nvSpPr>
        <p:spPr>
          <a:xfrm>
            <a:off x="1371600" y="4544568"/>
            <a:ext cx="530352" cy="530352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" y="467258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103120" y="447141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Prompt, don’t edit</a:t>
            </a:r>
            <a:endParaRPr lang="en-US" sz="1700"/>
          </a:p>
        </p:txBody>
      </p:sp>
      <p:sp>
        <p:nvSpPr>
          <p:cNvPr id="24" name="Text 18"/>
          <p:cNvSpPr/>
          <p:nvPr/>
        </p:nvSpPr>
        <p:spPr>
          <a:xfrm>
            <a:off x="2103120" y="481888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something’s off, you nudge the AI with feedback instead of editing lines yourself.</a:t>
            </a:r>
            <a:endParaRPr lang="en-US" sz="1250"/>
          </a:p>
        </p:txBody>
      </p:sp>
      <p:sp>
        <p:nvSpPr>
          <p:cNvPr id="25" name="Text 19"/>
          <p:cNvSpPr/>
          <p:nvPr/>
        </p:nvSpPr>
        <p:spPr>
          <a:xfrm>
            <a:off x="548640" y="533095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/>
          </a:p>
        </p:txBody>
      </p:sp>
      <p:sp>
        <p:nvSpPr>
          <p:cNvPr id="26" name="Shape 20"/>
          <p:cNvSpPr/>
          <p:nvPr/>
        </p:nvSpPr>
        <p:spPr>
          <a:xfrm>
            <a:off x="1371600" y="5385816"/>
            <a:ext cx="530352" cy="530352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9616" y="551383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103120" y="531266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speed</a:t>
            </a:r>
            <a:endParaRPr lang="en-US" sz="1700"/>
          </a:p>
        </p:txBody>
      </p:sp>
      <p:sp>
        <p:nvSpPr>
          <p:cNvPr id="29" name="Text 22"/>
          <p:cNvSpPr/>
          <p:nvPr/>
        </p:nvSpPr>
        <p:spPr>
          <a:xfrm>
            <a:off x="2103120" y="5660136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reach a working prototype in minutes — ideal for demos and experiments.</a:t>
            </a:r>
            <a:endParaRPr lang="en-US" sz="1250"/>
          </a:p>
        </p:txBody>
      </p:sp>
      <p:sp>
        <p:nvSpPr>
          <p:cNvPr id="30" name="Text 2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·  Build Your First AI Solution</a:t>
            </a:r>
            <a:endParaRPr lang="en-US" sz="900"/>
          </a:p>
        </p:txBody>
      </p:sp>
      <p:sp>
        <p:nvSpPr>
          <p:cNvPr id="31" name="Text 24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× SOFTWARE DEVELOPMENT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 can’t just vibe code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AI outputs is only as good as the context and directions you give it.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713232" y="2788920"/>
            <a:ext cx="3383280" cy="2468880"/>
          </a:xfrm>
          <a:prstGeom prst="rect">
            <a:avLst/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8992" y="3172968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732" y="337870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4087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hallucinates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1078992" y="445312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hallucinate badly and produce code that simply doesn’t work.</a:t>
            </a:r>
            <a:endParaRPr lang="en-US" sz="1250"/>
          </a:p>
        </p:txBody>
      </p:sp>
      <p:sp>
        <p:nvSpPr>
          <p:cNvPr id="12" name="Shape 8"/>
          <p:cNvSpPr/>
          <p:nvPr/>
        </p:nvSpPr>
        <p:spPr>
          <a:xfrm>
            <a:off x="4736592" y="2788920"/>
            <a:ext cx="3383280" cy="2468880"/>
          </a:xfrm>
          <a:prstGeom prst="rect">
            <a:avLst/>
          </a:prstGeom>
          <a:solidFill>
            <a:srgbClr val="EEF3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102352" y="3172968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092" y="337870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02352" y="4087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misjudges</a:t>
            </a:r>
            <a:endParaRPr lang="en-US" sz="1800"/>
          </a:p>
        </p:txBody>
      </p:sp>
      <p:sp>
        <p:nvSpPr>
          <p:cNvPr id="16" name="Text 11"/>
          <p:cNvSpPr/>
          <p:nvPr/>
        </p:nvSpPr>
        <p:spPr>
          <a:xfrm>
            <a:off x="5102352" y="445312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make wrong decisions and come up with bad designs you would never ship.</a:t>
            </a:r>
            <a:endParaRPr lang="en-US" sz="1250"/>
          </a:p>
        </p:txBody>
      </p:sp>
      <p:sp>
        <p:nvSpPr>
          <p:cNvPr id="18" name="Shape 12"/>
          <p:cNvSpPr/>
          <p:nvPr/>
        </p:nvSpPr>
        <p:spPr>
          <a:xfrm>
            <a:off x="8759952" y="2788920"/>
            <a:ext cx="3383280" cy="2468880"/>
          </a:xfrm>
          <a:prstGeom prst="rect">
            <a:avLst/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9125712" y="3172968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3378708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125712" y="4087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You’re accountable</a:t>
            </a:r>
            <a:endParaRPr lang="en-US" sz="1800"/>
          </a:p>
        </p:txBody>
      </p:sp>
      <p:sp>
        <p:nvSpPr>
          <p:cNvPr id="22" name="Text 15"/>
          <p:cNvSpPr/>
          <p:nvPr/>
        </p:nvSpPr>
        <p:spPr>
          <a:xfrm>
            <a:off x="9125712" y="445312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AI in check, own its code, and make sure it works with your team’s.</a:t>
            </a:r>
            <a:endParaRPr lang="en-US" sz="1250"/>
          </a:p>
        </p:txBody>
      </p:sp>
      <p:sp>
        <p:nvSpPr>
          <p:cNvPr id="23" name="Text 16"/>
          <p:cNvSpPr/>
          <p:nvPr/>
        </p:nvSpPr>
        <p:spPr>
          <a:xfrm>
            <a:off x="713232" y="5532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r>
              <a:rPr lang="en-US" sz="135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way to develop with AI in a structured manner.</a:t>
            </a:r>
            <a:endParaRPr lang="en-US" sz="1350"/>
          </a:p>
        </p:txBody>
      </p:sp>
      <p:sp>
        <p:nvSpPr>
          <p:cNvPr id="24" name="Text 1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·  Build Your First AI Solution</a:t>
            </a:r>
            <a:endParaRPr lang="en-US" sz="900"/>
          </a:p>
        </p:txBody>
      </p:sp>
      <p:sp>
        <p:nvSpPr>
          <p:cNvPr id="25" name="Text 18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Skills?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folders of know-how that turn a general-purpose assistant into a specialist for the exact task in front of it.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529584" cy="3337560"/>
          </a:xfrm>
          <a:prstGeom prst="rect">
            <a:avLst/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529584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" y="2971800"/>
            <a:ext cx="713232" cy="713232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3172968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3886200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Packaged know-how</a:t>
            </a:r>
            <a:endParaRPr lang="en-US" sz="1750"/>
          </a:p>
        </p:txBody>
      </p:sp>
      <p:sp>
        <p:nvSpPr>
          <p:cNvPr id="11" name="Text 8"/>
          <p:cNvSpPr/>
          <p:nvPr/>
        </p:nvSpPr>
        <p:spPr>
          <a:xfrm>
            <a:off x="960120" y="4389120"/>
            <a:ext cx="2752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is a folder with a SKILL.md file — instructions, scripts, and resources bundled into one place.</a:t>
            </a:r>
            <a:endParaRPr lang="en-US" sz="1300"/>
          </a:p>
        </p:txBody>
      </p:sp>
      <p:sp>
        <p:nvSpPr>
          <p:cNvPr id="12" name="Shape 9"/>
          <p:cNvSpPr/>
          <p:nvPr/>
        </p:nvSpPr>
        <p:spPr>
          <a:xfrm>
            <a:off x="4407408" y="2514600"/>
            <a:ext cx="3529584" cy="3337560"/>
          </a:xfrm>
          <a:prstGeom prst="rect">
            <a:avLst/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407408" y="2514600"/>
            <a:ext cx="3529584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818888" y="2971800"/>
            <a:ext cx="713232" cy="713232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6" y="3172968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18888" y="3886200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Loaded on demand</a:t>
            </a:r>
            <a:endParaRPr lang="en-US" sz="1750"/>
          </a:p>
        </p:txBody>
      </p:sp>
      <p:sp>
        <p:nvSpPr>
          <p:cNvPr id="17" name="Text 13"/>
          <p:cNvSpPr/>
          <p:nvPr/>
        </p:nvSpPr>
        <p:spPr>
          <a:xfrm>
            <a:off x="4818888" y="4389120"/>
            <a:ext cx="2752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scans each skill’s short description and pulls in the full details only when a task needs them.</a:t>
            </a:r>
            <a:endParaRPr lang="en-US" sz="1300"/>
          </a:p>
        </p:txBody>
      </p:sp>
      <p:sp>
        <p:nvSpPr>
          <p:cNvPr id="18" name="Shape 14"/>
          <p:cNvSpPr/>
          <p:nvPr/>
        </p:nvSpPr>
        <p:spPr>
          <a:xfrm>
            <a:off x="8266176" y="2514600"/>
            <a:ext cx="3529584" cy="3337560"/>
          </a:xfrm>
          <a:prstGeom prst="rect">
            <a:avLst/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266176" y="2514600"/>
            <a:ext cx="3529584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677656" y="2971800"/>
            <a:ext cx="713232" cy="713232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4" y="317296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77656" y="3886200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&amp; composable</a:t>
            </a:r>
            <a:endParaRPr lang="en-US" sz="1750"/>
          </a:p>
        </p:txBody>
      </p:sp>
      <p:sp>
        <p:nvSpPr>
          <p:cNvPr id="23" name="Text 18"/>
          <p:cNvSpPr/>
          <p:nvPr/>
        </p:nvSpPr>
        <p:spPr>
          <a:xfrm>
            <a:off x="8677656" y="4389120"/>
            <a:ext cx="2752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skills together for bigger jobs and share them across projects as an open standard.</a:t>
            </a:r>
            <a:endParaRPr lang="en-US" sz="1300"/>
          </a:p>
        </p:txBody>
      </p:sp>
      <p:sp>
        <p:nvSpPr>
          <p:cNvPr id="24" name="Text 1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·  Build Your First AI Solution</a:t>
            </a:r>
            <a:endParaRPr lang="en-US" sz="900"/>
          </a:p>
        </p:txBody>
      </p:sp>
      <p:sp>
        <p:nvSpPr>
          <p:cNvPr id="25" name="Text 20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METHOD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BMAD in a nutshell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 Method of Agile AI-Driven Development — a structured way to ship software with a team of specialist AI agents.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713232" y="2788920"/>
            <a:ext cx="3383280" cy="2468880"/>
          </a:xfrm>
          <a:prstGeom prst="rect">
            <a:avLst/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8992" y="3172968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732" y="337870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4087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Plan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1078992" y="445312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Analyst and Product Manager turn your idea into a clear spec, scoped into epics and stories.</a:t>
            </a:r>
            <a:endParaRPr lang="en-US" sz="125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3858768"/>
            <a:ext cx="329184" cy="3291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736592" y="2788920"/>
            <a:ext cx="3383280" cy="2468880"/>
          </a:xfrm>
          <a:prstGeom prst="rect">
            <a:avLst/>
          </a:prstGeom>
          <a:solidFill>
            <a:srgbClr val="EEF3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102352" y="3172968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8092" y="337870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02352" y="4087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Build</a:t>
            </a:r>
            <a:endParaRPr lang="en-US" sz="1800"/>
          </a:p>
        </p:txBody>
      </p:sp>
      <p:sp>
        <p:nvSpPr>
          <p:cNvPr id="16" name="Text 11"/>
          <p:cNvSpPr/>
          <p:nvPr/>
        </p:nvSpPr>
        <p:spPr>
          <a:xfrm>
            <a:off x="5102352" y="445312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Architect designs the system and a Developer agent implements each story, one slice at a time.</a:t>
            </a:r>
            <a:endParaRPr lang="en-US" sz="125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3858768"/>
            <a:ext cx="329184" cy="32918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759952" y="2788920"/>
            <a:ext cx="3383280" cy="2468880"/>
          </a:xfrm>
          <a:prstGeom prst="rect">
            <a:avLst/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9125712" y="3172968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1452" y="3378708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125712" y="4087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Validate</a:t>
            </a:r>
            <a:endParaRPr lang="en-US" sz="1800"/>
          </a:p>
        </p:txBody>
      </p:sp>
      <p:sp>
        <p:nvSpPr>
          <p:cNvPr id="22" name="Text 15"/>
          <p:cNvSpPr/>
          <p:nvPr/>
        </p:nvSpPr>
        <p:spPr>
          <a:xfrm>
            <a:off x="9125712" y="445312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and Scrum Master agents generate tests and keep the work on track through to CI.</a:t>
            </a:r>
            <a:endParaRPr lang="en-US" sz="1250"/>
          </a:p>
        </p:txBody>
      </p:sp>
      <p:sp>
        <p:nvSpPr>
          <p:cNvPr id="23" name="Text 16"/>
          <p:cNvSpPr/>
          <p:nvPr/>
        </p:nvSpPr>
        <p:spPr>
          <a:xfrm>
            <a:off x="713232" y="5532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r>
              <a:rPr lang="en-US" sz="135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 is Agile + Agents + Specs — the specification drives the work, so results stay consistent instead of relying on one-off AI luck.</a:t>
            </a:r>
            <a:endParaRPr lang="en-US" sz="1350"/>
          </a:p>
        </p:txBody>
      </p:sp>
      <p:sp>
        <p:nvSpPr>
          <p:cNvPr id="24" name="Text 1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·  Build Your First AI Solution</a:t>
            </a:r>
            <a:endParaRPr lang="en-US" sz="900"/>
          </a:p>
        </p:txBody>
      </p:sp>
      <p:sp>
        <p:nvSpPr>
          <p:cNvPr id="25" name="Text 18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FOR REAL ENGINEERS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Matt Pocock's skills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1371600" y="2020824"/>
            <a:ext cx="530352" cy="530352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21488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194767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/grill-with-docs</a:t>
            </a:r>
            <a:endParaRPr lang="en-US" sz="1700"/>
          </a:p>
        </p:txBody>
      </p:sp>
      <p:sp>
        <p:nvSpPr>
          <p:cNvPr id="9" name="Text 6"/>
          <p:cNvSpPr/>
          <p:nvPr/>
        </p:nvSpPr>
        <p:spPr>
          <a:xfrm>
            <a:off x="2103120" y="2295144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alignment interview that pins down requirements and updates your project context and decision records.</a:t>
            </a:r>
            <a:endParaRPr lang="en-US" sz="1250"/>
          </a:p>
        </p:txBody>
      </p:sp>
      <p:sp>
        <p:nvSpPr>
          <p:cNvPr id="10" name="Text 7"/>
          <p:cNvSpPr/>
          <p:nvPr/>
        </p:nvSpPr>
        <p:spPr>
          <a:xfrm>
            <a:off x="548640" y="280720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/>
          </a:p>
        </p:txBody>
      </p:sp>
      <p:sp>
        <p:nvSpPr>
          <p:cNvPr id="11" name="Shape 8"/>
          <p:cNvSpPr/>
          <p:nvPr/>
        </p:nvSpPr>
        <p:spPr>
          <a:xfrm>
            <a:off x="1371600" y="2862072"/>
            <a:ext cx="530352" cy="530352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616" y="299008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03120" y="27889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/tdd</a:t>
            </a:r>
            <a:endParaRPr lang="en-US" sz="1700"/>
          </a:p>
        </p:txBody>
      </p:sp>
      <p:sp>
        <p:nvSpPr>
          <p:cNvPr id="14" name="Text 10"/>
          <p:cNvSpPr/>
          <p:nvPr/>
        </p:nvSpPr>
        <p:spPr>
          <a:xfrm>
            <a:off x="2103120" y="313639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red-green-refactor loop that builds one vertical slice of working, tested code at a time.</a:t>
            </a:r>
            <a:endParaRPr lang="en-US" sz="1250"/>
          </a:p>
        </p:txBody>
      </p:sp>
      <p:sp>
        <p:nvSpPr>
          <p:cNvPr id="15" name="Text 11"/>
          <p:cNvSpPr/>
          <p:nvPr/>
        </p:nvSpPr>
        <p:spPr>
          <a:xfrm>
            <a:off x="548640" y="364845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/>
          </a:p>
        </p:txBody>
      </p:sp>
      <p:sp>
        <p:nvSpPr>
          <p:cNvPr id="16" name="Shape 12"/>
          <p:cNvSpPr/>
          <p:nvPr/>
        </p:nvSpPr>
        <p:spPr>
          <a:xfrm>
            <a:off x="1371600" y="3703320"/>
            <a:ext cx="530352" cy="530352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616" y="383133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363016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/diagnose</a:t>
            </a:r>
            <a:endParaRPr lang="en-US" sz="1700"/>
          </a:p>
        </p:txBody>
      </p:sp>
      <p:sp>
        <p:nvSpPr>
          <p:cNvPr id="19" name="Text 14"/>
          <p:cNvSpPr/>
          <p:nvPr/>
        </p:nvSpPr>
        <p:spPr>
          <a:xfrm>
            <a:off x="2103120" y="39776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Reproduce, minimise, hypothesise, instrument, then fix — a disciplined path through any bug.</a:t>
            </a:r>
            <a:endParaRPr lang="en-US" sz="1250"/>
          </a:p>
        </p:txBody>
      </p:sp>
      <p:sp>
        <p:nvSpPr>
          <p:cNvPr id="20" name="Text 15"/>
          <p:cNvSpPr/>
          <p:nvPr/>
        </p:nvSpPr>
        <p:spPr>
          <a:xfrm>
            <a:off x="548640" y="448970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/>
          </a:p>
        </p:txBody>
      </p:sp>
      <p:sp>
        <p:nvSpPr>
          <p:cNvPr id="21" name="Shape 16"/>
          <p:cNvSpPr/>
          <p:nvPr/>
        </p:nvSpPr>
        <p:spPr>
          <a:xfrm>
            <a:off x="1371600" y="4544568"/>
            <a:ext cx="530352" cy="530352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" y="467258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103120" y="447141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/codebase-design</a:t>
            </a:r>
            <a:endParaRPr lang="en-US" sz="1700"/>
          </a:p>
        </p:txBody>
      </p:sp>
      <p:sp>
        <p:nvSpPr>
          <p:cNvPr id="24" name="Text 18"/>
          <p:cNvSpPr/>
          <p:nvPr/>
        </p:nvSpPr>
        <p:spPr>
          <a:xfrm>
            <a:off x="2103120" y="481888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modules and architecture so the codebase stays easy for people and agents to navigate.</a:t>
            </a:r>
            <a:endParaRPr lang="en-US" sz="1250"/>
          </a:p>
        </p:txBody>
      </p:sp>
      <p:sp>
        <p:nvSpPr>
          <p:cNvPr id="25" name="Text 19"/>
          <p:cNvSpPr/>
          <p:nvPr/>
        </p:nvSpPr>
        <p:spPr>
          <a:xfrm>
            <a:off x="548640" y="533095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/>
          </a:p>
        </p:txBody>
      </p:sp>
      <p:sp>
        <p:nvSpPr>
          <p:cNvPr id="26" name="Shape 20"/>
          <p:cNvSpPr/>
          <p:nvPr/>
        </p:nvSpPr>
        <p:spPr>
          <a:xfrm>
            <a:off x="1371600" y="5385816"/>
            <a:ext cx="530352" cy="530352"/>
          </a:xfrm>
          <a:prstGeom prst="ellipse">
            <a:avLst/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9616" y="551383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103120" y="531266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/domain-modeling</a:t>
            </a:r>
            <a:endParaRPr lang="en-US" sz="1700"/>
          </a:p>
        </p:txBody>
      </p:sp>
      <p:sp>
        <p:nvSpPr>
          <p:cNvPr id="29" name="Text 22"/>
          <p:cNvSpPr/>
          <p:nvPr/>
        </p:nvSpPr>
        <p:spPr>
          <a:xfrm>
            <a:off x="2103120" y="5660136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domain’s language once so names and concepts stay consistent everywhere.</a:t>
            </a:r>
            <a:endParaRPr lang="en-US" sz="1250"/>
          </a:p>
        </p:txBody>
      </p:sp>
      <p:sp>
        <p:nvSpPr>
          <p:cNvPr id="30" name="Text 2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·  Build Your First AI Solution</a:t>
            </a:r>
            <a:endParaRPr lang="en-US" sz="900"/>
          </a:p>
        </p:txBody>
      </p:sp>
      <p:sp>
        <p:nvSpPr>
          <p:cNvPr id="31" name="Text 24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30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KEEP GOING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Tips &amp; next steps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8229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Habits that help beginners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9572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226771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 and finish — a working toy project teaches more than a perfect plan.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4553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3017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at your data; most AI mistakes start there.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895344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4128" y="376732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Always sanity-check AI output — it can be confidently wrong.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645152"/>
            <a:ext cx="310896" cy="3108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4128" y="451713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Keep humans in the loop for any decision that matters.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6400800" y="1828800"/>
            <a:ext cx="5212080" cy="3977640"/>
          </a:xfrm>
          <a:prstGeom prst="rect">
            <a:avLst/>
          </a:prstGeom>
          <a:solidFill>
            <a:srgbClr val="EEF3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9"/>
          <p:cNvSpPr/>
          <p:nvPr/>
        </p:nvSpPr>
        <p:spPr>
          <a:xfrm>
            <a:off x="6858000" y="2148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to go next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6858000" y="2761488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016" y="2889504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589520" y="27066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second project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7589520" y="30540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Pick a new task and repeat the four steps.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3"/>
          <p:cNvSpPr/>
          <p:nvPr/>
        </p:nvSpPr>
        <p:spPr>
          <a:xfrm>
            <a:off x="6858000" y="3694176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6016" y="3822192"/>
            <a:ext cx="292608" cy="29260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589520" y="3639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the vocabulary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7589520" y="39867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Skim a beginner course on AI and machine learning.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6858000" y="4626864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6016" y="4754880"/>
            <a:ext cx="292608" cy="29260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58952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 the tools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18"/>
          <p:cNvSpPr/>
          <p:nvPr/>
        </p:nvSpPr>
        <p:spPr>
          <a:xfrm>
            <a:off x="7589520" y="49194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Try one no-code AI platform end to end.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1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 ·  Build Your First AI Solution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0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D86EC-83D0-7B7A-9931-767E2A535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7">
            <a:extLst>
              <a:ext uri="{FF2B5EF4-FFF2-40B4-BE49-F238E27FC236}">
                <a16:creationId xmlns:a16="http://schemas.microsoft.com/office/drawing/2014/main" id="{DF0E765A-85B1-D053-7893-B090C844C87C}"/>
              </a:ext>
            </a:extLst>
          </p:cNvPr>
          <p:cNvSpPr/>
          <p:nvPr/>
        </p:nvSpPr>
        <p:spPr>
          <a:xfrm>
            <a:off x="3627119" y="479145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lnSpc>
                <a:spcPct val="110000"/>
              </a:lnSpc>
              <a:defRPr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https://github.com/buhilk/ai-workshop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6E68108-AAD9-C36C-5177-B90B8F72A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129" y="1919077"/>
            <a:ext cx="2981741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145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1767</Words>
  <Application>Microsoft Office PowerPoint</Application>
  <PresentationFormat>Widescreen</PresentationFormat>
  <Paragraphs>256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Buddika Hiripitiyage</dc:creator>
  <cp:lastModifiedBy>Buddika Hiripitiyage</cp:lastModifiedBy>
  <cp:revision>6</cp:revision>
  <dcterms:created xsi:type="dcterms:W3CDTF">2026-06-25T15:41:46Z</dcterms:created>
  <dcterms:modified xsi:type="dcterms:W3CDTF">2026-06-27T00:44:03Z</dcterms:modified>
</cp:coreProperties>
</file>